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0B42D5-BC20-43C0-B8F3-CBBFA64586F3}">
  <a:tblStyle styleId="{3A0B42D5-BC20-43C0-B8F3-CBBFA64586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5a709d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5a709d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b1e6e61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b1e6e61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ef831e0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ef831e0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1ef831e0d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1ef831e0d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e6f50ed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e6f50ed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1e6f50ed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1e6f50ed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1e6f50e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1e6f50e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e6f50ed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1e6f50ed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e6f50ed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1e6f50ed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a886a36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a886a36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a886a36e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a886a36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5a709d8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65a709d8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a886a36e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a886a36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44c26bc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44c26bc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65a709d8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65a709d8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65a709d8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65a709d8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ea766fc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ea766fc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65a709d8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65a709d8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8cc33a4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8cc33a4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948e7487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948e748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hZV6m5cQGEwxGbNzo8aXn9cWblE2ikpcYOZCqOL2Dlc/edit?gid=0#gid=0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6.xml"/><Relationship Id="rId4" Type="http://schemas.openxmlformats.org/officeDocument/2006/relationships/hyperlink" Target="https://docs.google.com/spreadsheets/d/1yWDKPxB9iNkJF9_6xfgpENmefKKMFDK2lxEa5XIyGiU/edit?usp=sharing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6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mcmaster.com/products/metric-class-109-steel-bolts/thread-size~m16/tensile-strength~100000~or-greater~psi/socket-head-screws-2~/?s=metric-class-109-steel-bolt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spreadsheets/d/1UJukjMelNHZt1cl5r7tykHqbfsBo4upVQp9qBf4BdVY/edit?usp=sharin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hyperlink" Target="https://buckeyemailosu-my.sharepoint.com/:x:/g/personal/hinkle_271_buckeyemail_osu_edu/IQACjEPTafD7RIAc6MTZGwIoAfmx0pZ2OWQ8V3HT0xu1RZE?e=NiItc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Design Snapshot Template  (part/owner)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152475"/>
            <a:ext cx="3999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Dimensions: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Operating Numbers: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3095325"/>
            <a:ext cx="39999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Status: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(is this a concept/frozen/complete)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Last updated: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Assumptions/notes: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760300" y="3231550"/>
            <a:ext cx="39999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Add pictures if you want: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Current Engine Design layout</a:t>
            </a:r>
            <a:r>
              <a:rPr lang="en" sz="2800"/>
              <a:t> 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397600" y="145575"/>
            <a:ext cx="44580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Preliminary design operating conditions can be found here:</a:t>
            </a:r>
            <a:br>
              <a:rPr lang="en">
                <a:solidFill>
                  <a:srgbClr val="595959"/>
                </a:solidFill>
              </a:rPr>
            </a:br>
            <a:r>
              <a:rPr lang="en" sz="1100" u="sng">
                <a:solidFill>
                  <a:schemeClr val="hlink"/>
                </a:solidFill>
                <a:hlinkClick r:id="rId3"/>
              </a:rPr>
              <a:t>Turbopump design(radial turbine) - Google Sheets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Apologize for poor </a:t>
            </a:r>
            <a:r>
              <a:rPr lang="en">
                <a:solidFill>
                  <a:srgbClr val="595959"/>
                </a:solidFill>
              </a:rPr>
              <a:t>formatting</a:t>
            </a:r>
            <a:r>
              <a:rPr lang="en">
                <a:solidFill>
                  <a:srgbClr val="595959"/>
                </a:solidFill>
              </a:rPr>
              <a:t> (contact kei if want cleaned)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898125" y="1146513"/>
            <a:ext cx="39999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Status: Current design theory Assumptions/notes: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Still figuring out what exactly we want to do for the pump outlets to the preburner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Start up method (nitrogen kickstart)could be different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Haven't</a:t>
            </a:r>
            <a:r>
              <a:rPr lang="en">
                <a:solidFill>
                  <a:srgbClr val="595959"/>
                </a:solidFill>
              </a:rPr>
              <a:t> decided what kind of valve to use for the valve that says electric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1583" l="0" r="2875" t="1292"/>
          <a:stretch/>
        </p:blipFill>
        <p:spPr>
          <a:xfrm>
            <a:off x="147400" y="1024902"/>
            <a:ext cx="2454563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1885150" y="2571750"/>
            <a:ext cx="150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chemeClr val="dk1"/>
                </a:solidFill>
                <a:highlight>
                  <a:schemeClr val="lt1"/>
                </a:highlight>
              </a:rPr>
              <a:t>Lifting seal</a:t>
            </a:r>
            <a:endParaRPr sz="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509075" y="4743300"/>
            <a:ext cx="358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Last updated: 3/23/26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for Fluids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69775" y="11783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Information: </a:t>
            </a: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Sensors: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engine parameters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b="45861" l="0" r="67047" t="0"/>
          <a:stretch/>
        </p:blipFill>
        <p:spPr>
          <a:xfrm>
            <a:off x="5442315" y="1152475"/>
            <a:ext cx="3389986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5526150" y="797450"/>
            <a:ext cx="36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Whole engine Thrust, massflow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21300" y="4053000"/>
            <a:ext cx="371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Feedback Appreciated about what/how information should be presented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21300" y="4514700"/>
            <a:ext cx="37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Last updated: 4/20/26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for Electronics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Sensor Information: </a:t>
            </a: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Sensors:</a:t>
            </a:r>
            <a:endParaRPr/>
          </a:p>
        </p:txBody>
      </p:sp>
      <p:sp>
        <p:nvSpPr>
          <p:cNvPr id="85" name="Google Shape;8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221300" y="4514700"/>
            <a:ext cx="37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Last updated: 3/23/26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21300" y="4053000"/>
            <a:ext cx="3717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Feedback Appreciated about what/how information should be presented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assembly/parts</a:t>
            </a:r>
            <a:endParaRPr/>
          </a:p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25" y="979025"/>
            <a:ext cx="2200700" cy="351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Sensors: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2820550" y="11213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PT accuracy: TBD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PT frequency: TBD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Thermocouple</a:t>
            </a:r>
            <a:r>
              <a:rPr lang="en"/>
              <a:t> accuracy: TBD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Thermocouple</a:t>
            </a:r>
            <a:r>
              <a:rPr lang="en"/>
              <a:t> frequency: TBD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Future work: table with each PT, thermocouple number and requirements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1583" l="0" r="2875" t="1292"/>
          <a:stretch/>
        </p:blipFill>
        <p:spPr>
          <a:xfrm>
            <a:off x="184750" y="1216800"/>
            <a:ext cx="2221301" cy="3733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3681075" y="4503875"/>
            <a:ext cx="35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Last updated:3/23/26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624900" y="119775"/>
            <a:ext cx="3379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Important sensors: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Thermocouple(vital)</a:t>
            </a:r>
            <a:r>
              <a:rPr lang="en">
                <a:solidFill>
                  <a:schemeClr val="dk2"/>
                </a:solidFill>
              </a:rPr>
              <a:t> to detect </a:t>
            </a:r>
            <a:r>
              <a:rPr lang="en">
                <a:solidFill>
                  <a:schemeClr val="dk2"/>
                </a:solidFill>
              </a:rPr>
              <a:t>combustion</a:t>
            </a:r>
            <a:r>
              <a:rPr lang="en">
                <a:solidFill>
                  <a:schemeClr val="dk2"/>
                </a:solidFill>
              </a:rPr>
              <a:t> in preburner + Information to throttle engine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PT in preburner chamber/ before chamber: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Information useful to throttle engine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PT in combustion chamber/ before combustion chamber: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Important data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Parts to Test</a:t>
            </a:r>
            <a:r>
              <a:rPr lang="en" sz="2800"/>
              <a:t>(ideas)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11700" y="1152475"/>
            <a:ext cx="4117200" cy="3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highlight>
                  <a:schemeClr val="accent6"/>
                </a:highlight>
              </a:rPr>
              <a:t>Preburner:</a:t>
            </a:r>
            <a:endParaRPr>
              <a:solidFill>
                <a:srgbClr val="595959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test at </a:t>
            </a:r>
            <a:r>
              <a:rPr b="1" lang="en">
                <a:solidFill>
                  <a:srgbClr val="595959"/>
                </a:solidFill>
              </a:rPr>
              <a:t>initial</a:t>
            </a:r>
            <a:r>
              <a:rPr b="1" lang="en">
                <a:solidFill>
                  <a:srgbClr val="595959"/>
                </a:solidFill>
              </a:rPr>
              <a:t> ignition pressure:</a:t>
            </a:r>
            <a:endParaRPr b="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Purpose: verify ignition timing is correct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hydrostatic test at operating pressure</a:t>
            </a:r>
            <a:endParaRPr b="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Purpose: verify structural </a:t>
            </a:r>
            <a:r>
              <a:rPr lang="en">
                <a:solidFill>
                  <a:srgbClr val="595959"/>
                </a:solidFill>
              </a:rPr>
              <a:t>integrity</a:t>
            </a:r>
            <a:r>
              <a:rPr lang="en">
                <a:solidFill>
                  <a:srgbClr val="595959"/>
                </a:solidFill>
              </a:rPr>
              <a:t> at operation pressure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Other considerations: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Ask nasa if we can test using their equipment at operation pressure,temp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Purpose: verify performance of preburner(correct delta P, temperature,structural, thermal)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5374425" y="651425"/>
            <a:ext cx="3409800" cy="24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highlight>
                  <a:srgbClr val="FFFF00"/>
                </a:highlight>
              </a:rPr>
              <a:t>Turbine/pumps</a:t>
            </a:r>
            <a:r>
              <a:rPr b="1" lang="en">
                <a:solidFill>
                  <a:srgbClr val="595959"/>
                </a:solidFill>
                <a:highlight>
                  <a:srgbClr val="FFFF00"/>
                </a:highlight>
              </a:rPr>
              <a:t>: </a:t>
            </a:r>
            <a:endParaRPr b="1">
              <a:solidFill>
                <a:srgbClr val="595959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Test nitrogen kickstart of turbine:</a:t>
            </a:r>
            <a:endParaRPr b="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Purpose: verify startup power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Water flow test of pumps:</a:t>
            </a:r>
            <a:endParaRPr b="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Purpose: pump performance verification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Other considerations: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TBD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4154700" y="3154250"/>
            <a:ext cx="3409800" cy="24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highlight>
                  <a:schemeClr val="accent6"/>
                </a:highlight>
              </a:rPr>
              <a:t>Igniter</a:t>
            </a:r>
            <a:r>
              <a:rPr b="1" lang="en">
                <a:solidFill>
                  <a:srgbClr val="595959"/>
                </a:solidFill>
                <a:highlight>
                  <a:schemeClr val="accent6"/>
                </a:highlight>
              </a:rPr>
              <a:t>: </a:t>
            </a:r>
            <a:endParaRPr b="1">
              <a:solidFill>
                <a:srgbClr val="595959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test at initial ignition pressure: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Verify igniter performance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Other considerations: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TBD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811125" y="4678175"/>
            <a:ext cx="35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Last updated:3/23/26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Startup Sequence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Turbopump is spun using nitrogen kickstart.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Rising pump discharge pressure opens propellant check valves (passive). 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Fuel check valve likely opens first (pending timing analysis)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First-stage propellants enter the preburner and ignition occurs.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Ignition confirmed via thermocouples.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Poppet valves open, allowing second-stage LOX injection.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Notes: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will try to remove poppet valves based on </a:t>
            </a:r>
            <a:r>
              <a:rPr lang="en" sz="1100"/>
              <a:t>combustion</a:t>
            </a:r>
            <a:r>
              <a:rPr lang="en" sz="1100"/>
              <a:t> dynamics, pending timing analysis need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Timing is TBD</a:t>
            </a:r>
            <a:endParaRPr sz="1100"/>
          </a:p>
        </p:txBody>
      </p:sp>
      <p:pic>
        <p:nvPicPr>
          <p:cNvPr id="120" name="Google Shape;120;p20"/>
          <p:cNvPicPr preferRelativeResize="0"/>
          <p:nvPr/>
        </p:nvPicPr>
        <p:blipFill rotWithShape="1">
          <a:blip r:embed="rId3">
            <a:alphaModFix/>
          </a:blip>
          <a:srcRect b="33636" l="36118" r="595" t="27720"/>
          <a:stretch/>
        </p:blipFill>
        <p:spPr>
          <a:xfrm>
            <a:off x="311700" y="1152475"/>
            <a:ext cx="3500125" cy="359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4959425" y="4652700"/>
            <a:ext cx="35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Last updated:3/23/26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Shutdown Sequence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TBD</a:t>
            </a:r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 b="33636" l="36118" r="595" t="27720"/>
          <a:stretch/>
        </p:blipFill>
        <p:spPr>
          <a:xfrm>
            <a:off x="311700" y="1152475"/>
            <a:ext cx="3500125" cy="359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/>
        </p:nvSpPr>
        <p:spPr>
          <a:xfrm>
            <a:off x="4878300" y="4282900"/>
            <a:ext cx="28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Last Updated:3/23/26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haft Overall Dimension - Ken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50" y="1024250"/>
            <a:ext cx="4593173" cy="19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Stepped Labyrinth Seal - Ken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Combustion Chamber - Kei/Ashton</a:t>
            </a:r>
            <a:endParaRPr sz="2800"/>
          </a:p>
        </p:txBody>
      </p:sp>
      <p:sp>
        <p:nvSpPr>
          <p:cNvPr id="151" name="Google Shape;151;p24"/>
          <p:cNvSpPr txBox="1"/>
          <p:nvPr/>
        </p:nvSpPr>
        <p:spPr>
          <a:xfrm>
            <a:off x="380250" y="1183054"/>
            <a:ext cx="45663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Dimensions: (the picture doesn’t </a:t>
            </a:r>
            <a:r>
              <a:rPr lang="en">
                <a:solidFill>
                  <a:srgbClr val="595959"/>
                </a:solidFill>
              </a:rPr>
              <a:t>depict</a:t>
            </a:r>
            <a:r>
              <a:rPr lang="en">
                <a:solidFill>
                  <a:srgbClr val="595959"/>
                </a:solidFill>
              </a:rPr>
              <a:t> shape </a:t>
            </a:r>
            <a:r>
              <a:rPr lang="en">
                <a:solidFill>
                  <a:srgbClr val="595959"/>
                </a:solidFill>
              </a:rPr>
              <a:t>correctly</a:t>
            </a:r>
            <a:r>
              <a:rPr lang="en">
                <a:solidFill>
                  <a:srgbClr val="595959"/>
                </a:solidFill>
              </a:rPr>
              <a:t>)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5730125" y="12035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Operating Numbers: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11700" y="3364175"/>
            <a:ext cx="39999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Status: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Frozen: need to finish cad + ansys verify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Last updated:2/7/26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Assumptions/notes: </a:t>
            </a:r>
            <a:endParaRPr>
              <a:solidFill>
                <a:srgbClr val="595959"/>
              </a:solidFill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n">
                <a:solidFill>
                  <a:srgbClr val="595959"/>
                </a:solidFill>
              </a:rPr>
              <a:t>RPA is correct with channel cooling calculations(need to verify with ansys) </a:t>
            </a:r>
            <a:endParaRPr>
              <a:solidFill>
                <a:srgbClr val="595959"/>
              </a:solidFill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n">
                <a:solidFill>
                  <a:srgbClr val="595959"/>
                </a:solidFill>
              </a:rPr>
              <a:t>Using printed Gr-cop42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100" y="1572200"/>
            <a:ext cx="3478975" cy="213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125" y="1694350"/>
            <a:ext cx="3457001" cy="356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Bearing - Ken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5144100" y="0"/>
            <a:ext cx="3999900" cy="4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25BGR19 Series: likely with brass cage</a:t>
            </a:r>
            <a:endParaRPr/>
          </a:p>
        </p:txBody>
      </p:sp>
      <p:sp>
        <p:nvSpPr>
          <p:cNvPr id="162" name="Google Shape;162;p25"/>
          <p:cNvSpPr txBox="1"/>
          <p:nvPr>
            <p:ph idx="2" type="body"/>
          </p:nvPr>
        </p:nvSpPr>
        <p:spPr>
          <a:xfrm>
            <a:off x="722400" y="1153925"/>
            <a:ext cx="17640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to read the numbers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50" y="360775"/>
            <a:ext cx="3286147" cy="320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39950"/>
            <a:ext cx="3495774" cy="370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0574" y="672750"/>
            <a:ext cx="2057276" cy="28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/>
          <p:nvPr/>
        </p:nvSpPr>
        <p:spPr>
          <a:xfrm>
            <a:off x="6162650" y="3567600"/>
            <a:ext cx="2669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Bearing information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Preburner Flange - Kei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bolts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Size: M16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Bolt number: 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Grade: 12.9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(the design numbers for gasket is in kenesto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Last updated: 4/2/2026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Turbine rotor/inlet - Kei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311700" y="1152475"/>
            <a:ext cx="3999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Dimensions(flow dimensions):</a:t>
            </a:r>
            <a:endParaRPr b="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Rotor Diameter: 116.3mm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Stator Diameter: 144.3mm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Stator inlet width: 3.6mm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Outlet Hub Diameter: </a:t>
            </a:r>
            <a:r>
              <a:rPr lang="en">
                <a:solidFill>
                  <a:srgbClr val="595959"/>
                </a:solidFill>
              </a:rPr>
              <a:t>15.35</a:t>
            </a:r>
            <a:r>
              <a:rPr lang="en">
                <a:solidFill>
                  <a:srgbClr val="595959"/>
                </a:solidFill>
              </a:rPr>
              <a:t>mm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Outlet shroud Diameter: 39.38mm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2572050" y="1186763"/>
            <a:ext cx="3999900" cy="19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Operating Numbers:</a:t>
            </a:r>
            <a:endParaRPr b="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4556276" y="123025"/>
            <a:ext cx="4468800" cy="19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Status: complete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Last updated: 3/9/26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Assumptions/notes:</a:t>
            </a:r>
            <a:endParaRPr>
              <a:solidFill>
                <a:srgbClr val="595959"/>
              </a:solidFill>
            </a:endParaRPr>
          </a:p>
          <a:p>
            <a:pPr indent="-2908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n">
                <a:solidFill>
                  <a:srgbClr val="595959"/>
                </a:solidFill>
              </a:rPr>
              <a:t>Using printed Inconel 718, with printer that can print 7-10 degree overhang</a:t>
            </a:r>
            <a:endParaRPr>
              <a:solidFill>
                <a:srgbClr val="595959"/>
              </a:solidFill>
            </a:endParaRPr>
          </a:p>
          <a:p>
            <a:pPr indent="-2908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n">
                <a:solidFill>
                  <a:srgbClr val="595959"/>
                </a:solidFill>
              </a:rPr>
              <a:t>Flow Properties: power and </a:t>
            </a:r>
            <a:r>
              <a:rPr lang="en">
                <a:solidFill>
                  <a:srgbClr val="595959"/>
                </a:solidFill>
              </a:rPr>
              <a:t>efficiency</a:t>
            </a:r>
            <a:r>
              <a:rPr lang="en">
                <a:solidFill>
                  <a:srgbClr val="595959"/>
                </a:solidFill>
              </a:rPr>
              <a:t> likely overestimated around 10-15%(not 100% sure) (more accurate sim is planned)</a:t>
            </a:r>
            <a:endParaRPr>
              <a:solidFill>
                <a:srgbClr val="595959"/>
              </a:solidFill>
            </a:endParaRPr>
          </a:p>
          <a:p>
            <a:pPr indent="-2908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00" y="3130625"/>
            <a:ext cx="2084251" cy="170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4276" y="3172775"/>
            <a:ext cx="2096235" cy="17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4275" y="1731925"/>
            <a:ext cx="2543226" cy="13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5596325" y="2142413"/>
            <a:ext cx="3999900" cy="19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Flow Properties</a:t>
            </a:r>
            <a:r>
              <a:rPr lang="en">
                <a:solidFill>
                  <a:srgbClr val="595959"/>
                </a:solidFill>
              </a:rPr>
              <a:t>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9025" y="2900200"/>
            <a:ext cx="2626699" cy="245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5309400" y="2540100"/>
            <a:ext cx="29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Axial force: about 8kN (need to cross check with hand calc)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360500" y="4533900"/>
            <a:ext cx="379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Leak pressure: 14MPa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Axial force: 7.87KN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LOX pump rotor- Kei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311700" y="1152475"/>
            <a:ext cx="3999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Dimensions: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4535025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Operating Numbers: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4258275" y="3403975"/>
            <a:ext cx="39999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Status: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Concept: completed, verified with ansys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Last updated: 2/25/2026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Assumptions/notes: </a:t>
            </a:r>
            <a:endParaRPr>
              <a:solidFill>
                <a:srgbClr val="595959"/>
              </a:solidFill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Using printed Inconel 718, with printer that can print 7-10 degree overhang</a:t>
            </a:r>
            <a:endParaRPr>
              <a:solidFill>
                <a:schemeClr val="dk2"/>
              </a:solidFill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Diameter of the shaft doesn’t change 18mm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00" y="1513400"/>
            <a:ext cx="2477057" cy="171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075" y="3224050"/>
            <a:ext cx="2689139" cy="18080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/>
        </p:nvSpPr>
        <p:spPr>
          <a:xfrm>
            <a:off x="6760025" y="1617925"/>
            <a:ext cx="42573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Inlet pressure:0.7MPa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Outlet pressure: 20.5MPa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RPM: 50k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Axial force: TBD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NPSHr: TBD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7375" y="1644650"/>
            <a:ext cx="2762849" cy="185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 title="IMG_0615.jpeg"/>
          <p:cNvPicPr preferRelativeResize="0"/>
          <p:nvPr/>
        </p:nvPicPr>
        <p:blipFill rotWithShape="1">
          <a:blip r:embed="rId6">
            <a:alphaModFix/>
          </a:blip>
          <a:srcRect b="41193" l="29258" r="18874" t="22324"/>
          <a:stretch/>
        </p:blipFill>
        <p:spPr>
          <a:xfrm>
            <a:off x="6474225" y="69126"/>
            <a:ext cx="2358077" cy="124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Fuel </a:t>
            </a:r>
            <a:r>
              <a:rPr lang="en"/>
              <a:t>pump rotor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sim results</a:t>
            </a:r>
            <a:endParaRPr/>
          </a:p>
        </p:txBody>
      </p:sp>
      <p:sp>
        <p:nvSpPr>
          <p:cNvPr id="208" name="Google Shape;20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Simmed: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Leak Pressure: 6bar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Pout : 23MPa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Axial force: 10.5kN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Efficiency: 0.387487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Head:2834.37 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Power: 208347 kg m^2 s^-3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Torque: 39.7913 kg m^2 s^-2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Cooling Channel - Kei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11700" y="1152475"/>
            <a:ext cx="3999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Dimensions: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Operating Numbers: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311700" y="3256225"/>
            <a:ext cx="39999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Status: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Concept: </a:t>
            </a:r>
            <a:r>
              <a:rPr lang="en">
                <a:solidFill>
                  <a:schemeClr val="dk2"/>
                </a:solidFill>
              </a:rPr>
              <a:t>need to figure out how to make large pressure drop cooling channel(redesign needed)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Last updated: 2/7/26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Assumptions/notes:</a:t>
            </a:r>
            <a:endParaRPr>
              <a:solidFill>
                <a:srgbClr val="595959"/>
              </a:solidFill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n">
                <a:solidFill>
                  <a:srgbClr val="595959"/>
                </a:solidFill>
              </a:rPr>
              <a:t> RPA calculations of cooling channels are correct, print using </a:t>
            </a:r>
            <a:r>
              <a:rPr lang="en">
                <a:solidFill>
                  <a:srgbClr val="595959"/>
                </a:solidFill>
              </a:rPr>
              <a:t>Grcop 42</a:t>
            </a:r>
            <a:endParaRPr>
              <a:solidFill>
                <a:srgbClr val="595959"/>
              </a:solidFill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n">
                <a:solidFill>
                  <a:srgbClr val="595959"/>
                </a:solidFill>
              </a:rPr>
              <a:t>Note: The pressure calculations are not correct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875" y="1017715"/>
            <a:ext cx="3134099" cy="2462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750" y="1715400"/>
            <a:ext cx="4533252" cy="282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Oxygen Rich Ring Burner</a:t>
            </a:r>
            <a:r>
              <a:rPr lang="en" sz="2800"/>
              <a:t> - Max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311700" y="1152475"/>
            <a:ext cx="3999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Dimensions: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5490388" y="-99250"/>
            <a:ext cx="39999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Operating Numbers: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311700" y="3095325"/>
            <a:ext cx="39999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Status: </a:t>
            </a:r>
            <a:r>
              <a:rPr lang="en">
                <a:solidFill>
                  <a:schemeClr val="dk2"/>
                </a:solidFill>
              </a:rPr>
              <a:t>concept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Last updated: 3/2/2025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Assumptions/notes:Need to figure out four </a:t>
            </a:r>
            <a:r>
              <a:rPr lang="en">
                <a:solidFill>
                  <a:srgbClr val="595959"/>
                </a:solidFill>
              </a:rPr>
              <a:t>purge</a:t>
            </a:r>
            <a:r>
              <a:rPr lang="en">
                <a:solidFill>
                  <a:srgbClr val="595959"/>
                </a:solidFill>
              </a:rPr>
              <a:t> ports </a:t>
            </a:r>
            <a:r>
              <a:rPr lang="en">
                <a:solidFill>
                  <a:srgbClr val="595959"/>
                </a:solidFill>
              </a:rPr>
              <a:t>along</a:t>
            </a:r>
            <a:r>
              <a:rPr lang="en">
                <a:solidFill>
                  <a:srgbClr val="595959"/>
                </a:solidFill>
              </a:rPr>
              <a:t> shaft, &amp; need to figure out seal at bottom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aphicFrame>
        <p:nvGraphicFramePr>
          <p:cNvPr id="227" name="Google Shape;227;p31"/>
          <p:cNvGraphicFramePr/>
          <p:nvPr/>
        </p:nvGraphicFramePr>
        <p:xfrm>
          <a:off x="5490400" y="23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{3A0B42D5-BC20-43C0-B8F3-CBBFA64586F3}</a:tableStyleId>
              </a:tblPr>
              <a:tblGrid>
                <a:gridCol w="889075"/>
                <a:gridCol w="830325"/>
                <a:gridCol w="1023125"/>
                <a:gridCol w="878300"/>
              </a:tblGrid>
              <a:tr h="33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Injector inlet Pressure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20.6 Mpa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1 Flame Temp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2993.76 K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5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Chamber Pressure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17.51 Mpa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2 Flame Temp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704.99 K (subject to </a:t>
                      </a:r>
                      <a:r>
                        <a:rPr lang="en" sz="800"/>
                        <a:t>change</a:t>
                      </a:r>
                      <a:r>
                        <a:rPr lang="en" sz="800"/>
                        <a:t> to 800K)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1 Fuel Mdot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0.15509 kg/s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Stage 1 Lox Mdot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1.39581kg/s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2 Lox Mdot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5.83909kg/s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Total</a:t>
                      </a:r>
                      <a:r>
                        <a:rPr lang="en" sz="800"/>
                        <a:t> Lox Mdot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7.2349 kg/s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1 O/F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2 O/F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46.65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1 Hot Gas Density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2.1933 kg/m^3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2 Hot Gas Density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8.3942 kg/m^3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Material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Inconel 718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Combustion chamber length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Second Stage Mixing time 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0.003s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1 Hot Gas Combustion Time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0.002s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Stage 1 Hot gas Velocity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~33m/s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Hot Gas Exit Velocity chamber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Mixing Length Stage 2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Hot gas velocity into stator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???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Mach 1 of hot gas 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523.5 m/s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28" name="Google Shape;2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194" y="1287225"/>
            <a:ext cx="1764130" cy="1808101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drawing of a machine&#10;&#10;AI-generated content may be incorrect." id="229" name="Google Shape;229;p31"/>
          <p:cNvPicPr preferRelativeResize="0"/>
          <p:nvPr/>
        </p:nvPicPr>
        <p:blipFill rotWithShape="1">
          <a:blip r:embed="rId4">
            <a:alphaModFix/>
          </a:blip>
          <a:srcRect b="-3640" l="0" r="0" t="3640"/>
          <a:stretch/>
        </p:blipFill>
        <p:spPr>
          <a:xfrm>
            <a:off x="2392862" y="1191450"/>
            <a:ext cx="2184800" cy="199964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/>
        </p:nvSpPr>
        <p:spPr>
          <a:xfrm>
            <a:off x="2556749" y="1281750"/>
            <a:ext cx="11661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25" lIns="35525" spcFirstLastPara="1" rIns="35525" wrap="square" tIns="35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4"/>
              <a:t> </a:t>
            </a:r>
            <a:endParaRPr sz="544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Torch Igniter- Corbin | Status: Ready for Testing, Needs Valve</a:t>
            </a:r>
            <a:endParaRPr sz="2320"/>
          </a:p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225300" y="1152475"/>
            <a:ext cx="3522600" cy="38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Dimensions: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Whole Body: 3”x5”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Swirl Chamber Diameter: 4.5 mm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Swirl Chamber Length: 6.75 mm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Torch Tube Exit Diameter: 6.5 mm</a:t>
            </a:r>
            <a:endParaRPr/>
          </a:p>
        </p:txBody>
      </p:sp>
      <p:sp>
        <p:nvSpPr>
          <p:cNvPr id="237" name="Google Shape;237;p32"/>
          <p:cNvSpPr txBox="1"/>
          <p:nvPr>
            <p:ph idx="2" type="body"/>
          </p:nvPr>
        </p:nvSpPr>
        <p:spPr>
          <a:xfrm>
            <a:off x="5516000" y="1152475"/>
            <a:ext cx="3316200" cy="23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Operating Conditions: 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Pressure: 19.14 MPa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Adiabatic Flame Temperature: 1522 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Propane Mass Flow: 0.142844484 g/s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GOx Mass Flow: 0.164271156 g/s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O/F Ratio : 1.15</a:t>
            </a:r>
            <a:endParaRPr/>
          </a:p>
        </p:txBody>
      </p:sp>
      <p:pic>
        <p:nvPicPr>
          <p:cNvPr id="238" name="Google Shape;23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12" y="1490525"/>
            <a:ext cx="1406225" cy="137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5024" y="1490525"/>
            <a:ext cx="1734440" cy="13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1100" y="1495325"/>
            <a:ext cx="1734451" cy="136532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 txBox="1"/>
          <p:nvPr/>
        </p:nvSpPr>
        <p:spPr>
          <a:xfrm>
            <a:off x="494300" y="3015900"/>
            <a:ext cx="1182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Fig. 1: Igniter with cap, fittings, and spark plug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2141250" y="3015900"/>
            <a:ext cx="1182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Fig. 2: Igniter boud with no cap, fittings or spark plug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3915300" y="3015900"/>
            <a:ext cx="1182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Fig. 3: Igniter with cap and no fittings nor spark plug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5601975" y="3646300"/>
            <a:ext cx="34602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Root Excel File: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Torch Igniter Excel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